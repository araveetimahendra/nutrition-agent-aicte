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7" r:id="rId9"/>
    <p:sldId id="265" r:id="rId10"/>
    <p:sldId id="266"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A783CE-861A-4DAF-A3FD-A50CC0E10388}" v="3" dt="2026-07-15T13:43:55.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ndra araveeti" userId="3785281e2ccaec25" providerId="LiveId" clId="{F6C36C63-39AC-4EA1-929B-F846FB10C515}"/>
    <pc:docChg chg="delSld modSld">
      <pc:chgData name="mahendra araveeti" userId="3785281e2ccaec25" providerId="LiveId" clId="{F6C36C63-39AC-4EA1-929B-F846FB10C515}" dt="2026-07-15T14:00:05.647" v="48" actId="2696"/>
      <pc:docMkLst>
        <pc:docMk/>
      </pc:docMkLst>
      <pc:sldChg chg="modSp mod">
        <pc:chgData name="mahendra araveeti" userId="3785281e2ccaec25" providerId="LiveId" clId="{F6C36C63-39AC-4EA1-929B-F846FB10C515}" dt="2026-07-15T13:46:31.321" v="47" actId="20577"/>
        <pc:sldMkLst>
          <pc:docMk/>
          <pc:sldMk cId="1700120141" sldId="258"/>
        </pc:sldMkLst>
        <pc:spChg chg="mod">
          <ac:chgData name="mahendra araveeti" userId="3785281e2ccaec25" providerId="LiveId" clId="{F6C36C63-39AC-4EA1-929B-F846FB10C515}" dt="2026-07-15T13:46:31.321" v="47" actId="20577"/>
          <ac:spMkLst>
            <pc:docMk/>
            <pc:sldMk cId="1700120141" sldId="258"/>
            <ac:spMk id="7" creationId="{3159244D-159E-8110-E641-3FB306561519}"/>
          </ac:spMkLst>
        </pc:spChg>
      </pc:sldChg>
      <pc:sldChg chg="del">
        <pc:chgData name="mahendra araveeti" userId="3785281e2ccaec25" providerId="LiveId" clId="{F6C36C63-39AC-4EA1-929B-F846FB10C515}" dt="2026-07-15T14:00:05.647" v="48" actId="2696"/>
        <pc:sldMkLst>
          <pc:docMk/>
          <pc:sldMk cId="416641468" sldId="261"/>
        </pc:sldMkLst>
      </pc:sldChg>
      <pc:sldChg chg="del">
        <pc:chgData name="mahendra araveeti" userId="3785281e2ccaec25" providerId="LiveId" clId="{F6C36C63-39AC-4EA1-929B-F846FB10C515}" dt="2026-07-15T13:05:09.171" v="3" actId="2696"/>
        <pc:sldMkLst>
          <pc:docMk/>
          <pc:sldMk cId="356167827" sldId="262"/>
        </pc:sldMkLst>
      </pc:sldChg>
      <pc:sldChg chg="addSp modSp mod">
        <pc:chgData name="mahendra araveeti" userId="3785281e2ccaec25" providerId="LiveId" clId="{F6C36C63-39AC-4EA1-929B-F846FB10C515}" dt="2026-07-15T13:37:06.116" v="26" actId="1076"/>
        <pc:sldMkLst>
          <pc:docMk/>
          <pc:sldMk cId="198483490" sldId="266"/>
        </pc:sldMkLst>
        <pc:spChg chg="mod">
          <ac:chgData name="mahendra araveeti" userId="3785281e2ccaec25" providerId="LiveId" clId="{F6C36C63-39AC-4EA1-929B-F846FB10C515}" dt="2026-07-15T13:37:02.686" v="25" actId="1076"/>
          <ac:spMkLst>
            <pc:docMk/>
            <pc:sldMk cId="198483490" sldId="266"/>
            <ac:spMk id="3" creationId="{6C24A7FB-500C-C52D-AB09-5262109432BF}"/>
          </ac:spMkLst>
        </pc:spChg>
        <pc:spChg chg="add mod">
          <ac:chgData name="mahendra araveeti" userId="3785281e2ccaec25" providerId="LiveId" clId="{F6C36C63-39AC-4EA1-929B-F846FB10C515}" dt="2026-07-15T13:37:06.116" v="26" actId="1076"/>
          <ac:spMkLst>
            <pc:docMk/>
            <pc:sldMk cId="198483490" sldId="266"/>
            <ac:spMk id="4" creationId="{52D6934E-DF1E-C813-1F86-5E00A3072B6D}"/>
          </ac:spMkLst>
        </pc:spChg>
      </pc:sldChg>
      <pc:sldChg chg="addSp modSp mod">
        <pc:chgData name="mahendra araveeti" userId="3785281e2ccaec25" providerId="LiveId" clId="{F6C36C63-39AC-4EA1-929B-F846FB10C515}" dt="2026-07-15T13:36:42.941" v="23" actId="255"/>
        <pc:sldMkLst>
          <pc:docMk/>
          <pc:sldMk cId="3725316218" sldId="267"/>
        </pc:sldMkLst>
        <pc:spChg chg="add mod">
          <ac:chgData name="mahendra araveeti" userId="3785281e2ccaec25" providerId="LiveId" clId="{F6C36C63-39AC-4EA1-929B-F846FB10C515}" dt="2026-07-15T13:36:15.659" v="19" actId="255"/>
          <ac:spMkLst>
            <pc:docMk/>
            <pc:sldMk cId="3725316218" sldId="267"/>
            <ac:spMk id="8" creationId="{4E8C296B-D3B3-1067-C837-983A6ACB63D1}"/>
          </ac:spMkLst>
        </pc:spChg>
        <pc:spChg chg="add mod">
          <ac:chgData name="mahendra araveeti" userId="3785281e2ccaec25" providerId="LiveId" clId="{F6C36C63-39AC-4EA1-929B-F846FB10C515}" dt="2026-07-15T13:36:42.941" v="23" actId="255"/>
          <ac:spMkLst>
            <pc:docMk/>
            <pc:sldMk cId="3725316218" sldId="267"/>
            <ac:spMk id="10" creationId="{4F4EC469-A569-79C9-541F-7CB581D382ED}"/>
          </ac:spMkLst>
        </pc:spChg>
        <pc:picChg chg="add mod">
          <ac:chgData name="mahendra araveeti" userId="3785281e2ccaec25" providerId="LiveId" clId="{F6C36C63-39AC-4EA1-929B-F846FB10C515}" dt="2026-07-15T13:35:10.784" v="12" actId="14100"/>
          <ac:picMkLst>
            <pc:docMk/>
            <pc:sldMk cId="3725316218" sldId="267"/>
            <ac:picMk id="4" creationId="{6E51A161-C047-7956-EF61-C465E113C1DD}"/>
          </ac:picMkLst>
        </pc:picChg>
        <pc:picChg chg="add mod">
          <ac:chgData name="mahendra araveeti" userId="3785281e2ccaec25" providerId="LiveId" clId="{F6C36C63-39AC-4EA1-929B-F846FB10C515}" dt="2026-07-15T13:35:33.871" v="15" actId="1076"/>
          <ac:picMkLst>
            <pc:docMk/>
            <pc:sldMk cId="3725316218" sldId="267"/>
            <ac:picMk id="6" creationId="{C168B5A6-57A0-610D-5078-789F41C6B11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55E46-A64E-8670-5D5A-5C2B9A5E68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081A9C-8170-E8F2-DD29-CF2D0D26F2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A8B552-3485-36C4-7A6F-FB38BDB073E5}"/>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BC800003-38E1-0C49-A1CE-5B4ECA57C0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10C0A9-E61A-155F-7A9D-DB0F5F4EDB6D}"/>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61466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9A1D-9787-C8DB-1836-01A7EAF792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30CAD5-3091-9C4E-1670-2B77648540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59AFE3-8145-8129-92D9-1E21DD836C00}"/>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D42DA690-4D0B-D0E2-D8AD-6B215299FA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4CB43E-C816-6EC1-D92F-F3BD2EA7E5F5}"/>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213373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8A94-C31E-3BC7-6BE0-7E38677F2B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25676C-2664-A8D2-8776-D4DE6533D8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C77AF6-EB0B-5EF4-0A6E-B101EC48AE31}"/>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E63D47C2-C4BA-CAC3-E1C6-04B76D3C85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932331-8D31-FDBA-23C1-48C4E0CAA45C}"/>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74670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4AFD-BF59-8B6D-4AEB-A229C177F4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89F93E-B24F-93D2-BD7D-1C24D83D2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A93153-F7C0-BC44-7F07-78E4A24BD9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D57D5A-60E5-CEE3-FD9F-BF1931C97F36}"/>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6" name="Footer Placeholder 5">
            <a:extLst>
              <a:ext uri="{FF2B5EF4-FFF2-40B4-BE49-F238E27FC236}">
                <a16:creationId xmlns:a16="http://schemas.microsoft.com/office/drawing/2014/main" id="{19A35F7E-CDAA-3A56-C36E-E3B1FB8AE7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664C7-0AE2-D3A8-E2FE-6A3D6B04E017}"/>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15048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C84A-C186-3098-1257-40980F6FA9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B30C21-58EC-3F1E-513B-8D28947F45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20E9C6-15C3-F15C-3441-69E243EA59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8868DE-FB4E-DCC3-683A-A76A24333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EB522-314B-5068-15D7-9EC6DF6729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FE350-8791-1A64-ABC9-7E071583C115}"/>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8" name="Footer Placeholder 7">
            <a:extLst>
              <a:ext uri="{FF2B5EF4-FFF2-40B4-BE49-F238E27FC236}">
                <a16:creationId xmlns:a16="http://schemas.microsoft.com/office/drawing/2014/main" id="{4F9D1CDB-D070-9C50-F606-B12225D779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233EB8-F138-AC00-6054-6D2ABE058493}"/>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765494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2AF7-B1C9-80DC-D43C-1B8A5EBB06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6569A2-87FB-49B0-31D5-024F6EC4DC3E}"/>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4" name="Footer Placeholder 3">
            <a:extLst>
              <a:ext uri="{FF2B5EF4-FFF2-40B4-BE49-F238E27FC236}">
                <a16:creationId xmlns:a16="http://schemas.microsoft.com/office/drawing/2014/main" id="{B92BBA36-0BF9-448B-5E5C-65EE29166E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27895B-A35B-AB44-ACD0-72B2736A18F3}"/>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60798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F9CAA6-E67E-C7D5-122C-49EEE8C4D621}"/>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3" name="Footer Placeholder 2">
            <a:extLst>
              <a:ext uri="{FF2B5EF4-FFF2-40B4-BE49-F238E27FC236}">
                <a16:creationId xmlns:a16="http://schemas.microsoft.com/office/drawing/2014/main" id="{ED79BF66-E3CE-A5C9-BF63-46BB92D372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4EDC0A-C78C-0D18-139A-45B0EAA7D375}"/>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29835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343E-7AC2-9631-6F43-089136CA2C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904E49-D4AF-AF07-5384-7C694A7A93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7FF723-DEC1-11A8-1526-2C960D767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7F3C7-97C6-AD87-BBE7-30D1721A4B6D}"/>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6" name="Footer Placeholder 5">
            <a:extLst>
              <a:ext uri="{FF2B5EF4-FFF2-40B4-BE49-F238E27FC236}">
                <a16:creationId xmlns:a16="http://schemas.microsoft.com/office/drawing/2014/main" id="{12D0D412-26FA-91BD-FA8D-C1EE318D80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ABD4D7-C1B2-7D8B-B8D2-0089E4D315AB}"/>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54953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7766-6010-ACA1-8118-EE2304403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B33761-BE7C-E37C-7155-C01E9DD605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644156-C53D-1168-B856-F5F7583E6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CB0D9-DBFA-2E2A-4F2F-AB4A4DB0E975}"/>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6" name="Footer Placeholder 5">
            <a:extLst>
              <a:ext uri="{FF2B5EF4-FFF2-40B4-BE49-F238E27FC236}">
                <a16:creationId xmlns:a16="http://schemas.microsoft.com/office/drawing/2014/main" id="{BA0F7E9B-9079-B17D-C995-7800E7521B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E87A38-4F4C-50CA-C810-ED6599D3FA1A}"/>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044485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AFA03-5D63-2CA6-D761-8AA03C677B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61CB7E-A81B-27C8-283B-A276532BA3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218DD3-5C17-97E4-79DA-08D4BCD8BC65}"/>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44D3EBDA-D46A-DA70-59AA-E66FDFFF1A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33494-4096-DE70-261C-35E841EF798D}"/>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94409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3469BF-53EF-CF51-3E3A-BC91D496A4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8BEFF7-5FFA-A88E-55F8-BB07DECB83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46A159-8423-5125-7B43-750C80BE7C95}"/>
              </a:ext>
            </a:extLst>
          </p:cNvPr>
          <p:cNvSpPr>
            <a:spLocks noGrp="1"/>
          </p:cNvSpPr>
          <p:nvPr>
            <p:ph type="dt" sz="half" idx="10"/>
          </p:nvPr>
        </p:nvSpPr>
        <p:spPr/>
        <p:txBody>
          <a:body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55B8994A-24AB-F738-4FD2-D9A68E002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A197F2-94F0-3C8E-B0B4-442DE454FD29}"/>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80569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13282E-CE11-D56C-B6CD-FCED3A8D5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B8EA89-2DEF-5D03-5315-95907404BA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05361E-6471-EE42-020C-C0D23EC22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2417B2-4751-4B9C-8C2B-D5960084F2A6}" type="datetimeFigureOut">
              <a:rPr lang="en-IN" smtClean="0"/>
              <a:t>15-07-2026</a:t>
            </a:fld>
            <a:endParaRPr lang="en-IN"/>
          </a:p>
        </p:txBody>
      </p:sp>
      <p:sp>
        <p:nvSpPr>
          <p:cNvPr id="5" name="Footer Placeholder 4">
            <a:extLst>
              <a:ext uri="{FF2B5EF4-FFF2-40B4-BE49-F238E27FC236}">
                <a16:creationId xmlns:a16="http://schemas.microsoft.com/office/drawing/2014/main" id="{0880D3CE-ED30-7235-CDEA-E6551B036B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E4C449-6482-46C3-2FE2-1A9FA90E4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038043-0EDA-41BB-812C-E05C39C53A38}" type="slidenum">
              <a:rPr lang="en-IN" smtClean="0"/>
              <a:t>‹#›</a:t>
            </a:fld>
            <a:endParaRPr lang="en-IN"/>
          </a:p>
        </p:txBody>
      </p:sp>
    </p:spTree>
    <p:extLst>
      <p:ext uri="{BB962C8B-B14F-4D97-AF65-F5344CB8AC3E}">
        <p14:creationId xmlns:p14="http://schemas.microsoft.com/office/powerpoint/2010/main" val="1250324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raveetimahendra/Nutrition-Agent-AICTE.git"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D5DB29-FF78-399F-9968-5E92724E253F}"/>
              </a:ext>
            </a:extLst>
          </p:cNvPr>
          <p:cNvSpPr txBox="1"/>
          <p:nvPr/>
        </p:nvSpPr>
        <p:spPr>
          <a:xfrm>
            <a:off x="530941" y="2381646"/>
            <a:ext cx="11130116" cy="2277547"/>
          </a:xfrm>
          <a:prstGeom prst="rect">
            <a:avLst/>
          </a:prstGeom>
          <a:noFill/>
        </p:spPr>
        <p:txBody>
          <a:bodyPr wrap="square">
            <a:spAutoFit/>
          </a:bodyPr>
          <a:lstStyle/>
          <a:p>
            <a:pPr algn="ctr" rtl="0">
              <a:buNone/>
            </a:pPr>
            <a:r>
              <a:rPr lang="en-IN" sz="2800" b="1" i="0" u="none" strike="noStrike" dirty="0">
                <a:solidFill>
                  <a:srgbClr val="000000"/>
                </a:solidFill>
                <a:effectLst/>
                <a:latin typeface="Arial" panose="020B0604020202020204" pitchFamily="34" charset="0"/>
                <a:cs typeface="Arial" panose="020B0604020202020204" pitchFamily="34" charset="0"/>
              </a:rPr>
              <a:t>IBM University Engagement Project Submission</a:t>
            </a:r>
            <a:br>
              <a:rPr lang="en-IN" sz="6000" b="1" i="0" u="none" strike="noStrike" dirty="0">
                <a:solidFill>
                  <a:srgbClr val="000000"/>
                </a:solidFill>
                <a:effectLst/>
                <a:latin typeface="Calibri" panose="020F0502020204030204" pitchFamily="34" charset="0"/>
              </a:rPr>
            </a:br>
            <a:br>
              <a:rPr lang="en-IN" sz="6000" b="1" i="0" u="none" strike="noStrike" dirty="0">
                <a:solidFill>
                  <a:srgbClr val="000000"/>
                </a:solidFill>
                <a:effectLst/>
                <a:latin typeface="Calibri" panose="020F0502020204030204" pitchFamily="34" charset="0"/>
              </a:rPr>
            </a:br>
            <a:endParaRPr lang="en-IN" b="0" dirty="0">
              <a:effectLst/>
            </a:endParaRPr>
          </a:p>
          <a:p>
            <a:pPr>
              <a:buNone/>
            </a:pPr>
            <a:br>
              <a:rPr lang="en-IN" dirty="0"/>
            </a:br>
            <a:endParaRPr lang="en-IN" dirty="0"/>
          </a:p>
        </p:txBody>
      </p:sp>
      <p:sp>
        <p:nvSpPr>
          <p:cNvPr id="7" name="TextBox 6">
            <a:extLst>
              <a:ext uri="{FF2B5EF4-FFF2-40B4-BE49-F238E27FC236}">
                <a16:creationId xmlns:a16="http://schemas.microsoft.com/office/drawing/2014/main" id="{1531DF77-B9BA-1DCC-1388-CCF3EFB5A5F7}"/>
              </a:ext>
            </a:extLst>
          </p:cNvPr>
          <p:cNvSpPr txBox="1"/>
          <p:nvPr/>
        </p:nvSpPr>
        <p:spPr>
          <a:xfrm>
            <a:off x="1651818" y="3012587"/>
            <a:ext cx="8888361" cy="1015663"/>
          </a:xfrm>
          <a:prstGeom prst="rect">
            <a:avLst/>
          </a:prstGeom>
          <a:noFill/>
        </p:spPr>
        <p:txBody>
          <a:bodyPr wrap="square">
            <a:spAutoFit/>
          </a:bodyPr>
          <a:lstStyle/>
          <a:p>
            <a:pPr marL="228600" indent="-228600" algn="ctr" rtl="0">
              <a:spcBef>
                <a:spcPts val="1000"/>
              </a:spcBef>
              <a:buNone/>
            </a:pPr>
            <a:r>
              <a:rPr lang="en-IN" sz="2400" b="1" i="1" u="none" strike="noStrike" dirty="0">
                <a:solidFill>
                  <a:srgbClr val="888888"/>
                </a:solidFill>
                <a:effectLst/>
                <a:latin typeface="Calibri" panose="020F0502020204030204" pitchFamily="34" charset="0"/>
              </a:rPr>
              <a:t>“Exploring the Power of Agentic AI with IBM Granite and </a:t>
            </a:r>
            <a:r>
              <a:rPr lang="en-IN" sz="2400" b="1" i="1" u="none" strike="noStrike" dirty="0" err="1">
                <a:solidFill>
                  <a:srgbClr val="888888"/>
                </a:solidFill>
                <a:effectLst/>
                <a:latin typeface="Calibri" panose="020F0502020204030204" pitchFamily="34" charset="0"/>
              </a:rPr>
              <a:t>LangFlow</a:t>
            </a:r>
            <a:r>
              <a:rPr lang="en-IN" sz="2400" b="1" i="1" u="none" strike="noStrike" dirty="0">
                <a:solidFill>
                  <a:srgbClr val="888888"/>
                </a:solidFill>
                <a:effectLst/>
                <a:latin typeface="Calibri" panose="020F0502020204030204" pitchFamily="34" charset="0"/>
              </a:rPr>
              <a:t>”</a:t>
            </a:r>
            <a:endParaRPr lang="en-IN" b="0" dirty="0">
              <a:effectLst/>
            </a:endParaRPr>
          </a:p>
          <a:p>
            <a:pPr>
              <a:buNone/>
            </a:pPr>
            <a:br>
              <a:rPr lang="en-IN" dirty="0"/>
            </a:br>
            <a:endParaRPr lang="en-IN" dirty="0"/>
          </a:p>
        </p:txBody>
      </p:sp>
    </p:spTree>
    <p:extLst>
      <p:ext uri="{BB962C8B-B14F-4D97-AF65-F5344CB8AC3E}">
        <p14:creationId xmlns:p14="http://schemas.microsoft.com/office/powerpoint/2010/main" val="271132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0B61096-0ACC-0B9F-09EF-40440DA11617}"/>
              </a:ext>
            </a:extLst>
          </p:cNvPr>
          <p:cNvGraphicFramePr>
            <a:graphicFrameLocks noGrp="1"/>
          </p:cNvGraphicFramePr>
          <p:nvPr>
            <p:ph idx="1"/>
            <p:extLst>
              <p:ext uri="{D42A27DB-BD31-4B8C-83A1-F6EECF244321}">
                <p14:modId xmlns:p14="http://schemas.microsoft.com/office/powerpoint/2010/main" val="2597743207"/>
              </p:ext>
            </p:extLst>
          </p:nvPr>
        </p:nvGraphicFramePr>
        <p:xfrm>
          <a:off x="1415845" y="2310514"/>
          <a:ext cx="7528560" cy="1729740"/>
        </p:xfrm>
        <a:graphic>
          <a:graphicData uri="http://schemas.openxmlformats.org/drawingml/2006/table">
            <a:tbl>
              <a:tblPr/>
              <a:tblGrid>
                <a:gridCol w="1653540">
                  <a:extLst>
                    <a:ext uri="{9D8B030D-6E8A-4147-A177-3AD203B41FA5}">
                      <a16:colId xmlns:a16="http://schemas.microsoft.com/office/drawing/2014/main" val="2889714903"/>
                    </a:ext>
                  </a:extLst>
                </a:gridCol>
                <a:gridCol w="1958340">
                  <a:extLst>
                    <a:ext uri="{9D8B030D-6E8A-4147-A177-3AD203B41FA5}">
                      <a16:colId xmlns:a16="http://schemas.microsoft.com/office/drawing/2014/main" val="1674512733"/>
                    </a:ext>
                  </a:extLst>
                </a:gridCol>
                <a:gridCol w="1958340">
                  <a:extLst>
                    <a:ext uri="{9D8B030D-6E8A-4147-A177-3AD203B41FA5}">
                      <a16:colId xmlns:a16="http://schemas.microsoft.com/office/drawing/2014/main" val="1182858402"/>
                    </a:ext>
                  </a:extLst>
                </a:gridCol>
                <a:gridCol w="1958340">
                  <a:extLst>
                    <a:ext uri="{9D8B030D-6E8A-4147-A177-3AD203B41FA5}">
                      <a16:colId xmlns:a16="http://schemas.microsoft.com/office/drawing/2014/main" val="2803252306"/>
                    </a:ext>
                  </a:extLst>
                </a:gridCol>
              </a:tblGrid>
              <a:tr h="777240">
                <a:tc>
                  <a:txBody>
                    <a:bodyPr/>
                    <a:lstStyle/>
                    <a:p>
                      <a:pPr algn="ctr" rtl="0" fontAlgn="ctr">
                        <a:buNone/>
                      </a:pPr>
                      <a:r>
                        <a:rPr lang="en-IN" sz="1800" b="0" i="0" u="none" strike="noStrike" dirty="0">
                          <a:solidFill>
                            <a:srgbClr val="000000"/>
                          </a:solidFill>
                          <a:effectLst/>
                          <a:latin typeface="Arial" panose="020B0604020202020204" pitchFamily="34" charset="0"/>
                        </a:rPr>
                        <a:t>Student Name</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Recent Passport Photo</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Email ID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Mobile number</a:t>
                      </a:r>
                      <a:endParaRPr lang="en-IN">
                        <a:effectLst/>
                      </a:endParaRPr>
                    </a:p>
                    <a:p>
                      <a:pPr algn="ctr" rtl="0" fontAlgn="ctr">
                        <a:buNone/>
                      </a:pPr>
                      <a:r>
                        <a:rPr lang="en-IN" sz="1800" b="0" i="0" u="none" strike="noStrike">
                          <a:solidFill>
                            <a:srgbClr val="000000"/>
                          </a:solidFill>
                          <a:effectLst/>
                          <a:latin typeface="Arial" panose="020B0604020202020204" pitchFamily="34" charset="0"/>
                        </a:rPr>
                        <a:t>[WhatsApp]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364221828"/>
                  </a:ext>
                </a:extLst>
              </a:tr>
              <a:tr h="952500">
                <a:tc>
                  <a:txBody>
                    <a:bodyPr/>
                    <a:lstStyle/>
                    <a:p>
                      <a:pPr fontAlgn="t">
                        <a:buNone/>
                      </a:pPr>
                      <a:r>
                        <a:rPr lang="en-IN" dirty="0">
                          <a:effectLst/>
                        </a:rPr>
                        <a:t> Araveeti Mahendra Babu</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mahendraaraveeti2006@gmail.com</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9703194548</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3486056378"/>
                  </a:ext>
                </a:extLst>
              </a:tr>
            </a:tbl>
          </a:graphicData>
        </a:graphic>
      </p:graphicFrame>
      <p:pic>
        <p:nvPicPr>
          <p:cNvPr id="6" name="Picture 5">
            <a:extLst>
              <a:ext uri="{FF2B5EF4-FFF2-40B4-BE49-F238E27FC236}">
                <a16:creationId xmlns:a16="http://schemas.microsoft.com/office/drawing/2014/main" id="{6237B1C0-5065-E9C8-DF4F-53EDE13D9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347" y="3078347"/>
            <a:ext cx="1156808" cy="961907"/>
          </a:xfrm>
          <a:prstGeom prst="rect">
            <a:avLst/>
          </a:prstGeom>
        </p:spPr>
      </p:pic>
      <p:sp>
        <p:nvSpPr>
          <p:cNvPr id="8" name="TextBox 7">
            <a:extLst>
              <a:ext uri="{FF2B5EF4-FFF2-40B4-BE49-F238E27FC236}">
                <a16:creationId xmlns:a16="http://schemas.microsoft.com/office/drawing/2014/main" id="{79924241-0DF0-E7EF-4E06-FBF34E8C6128}"/>
              </a:ext>
            </a:extLst>
          </p:cNvPr>
          <p:cNvSpPr txBox="1"/>
          <p:nvPr/>
        </p:nvSpPr>
        <p:spPr>
          <a:xfrm>
            <a:off x="1415845" y="603214"/>
            <a:ext cx="6096000" cy="1015663"/>
          </a:xfrm>
          <a:prstGeom prst="rect">
            <a:avLst/>
          </a:prstGeom>
          <a:noFill/>
        </p:spPr>
        <p:txBody>
          <a:bodyPr wrap="square">
            <a:spAutoFit/>
          </a:bodyPr>
          <a:lstStyle/>
          <a:p>
            <a:pPr rtl="0">
              <a:buNone/>
            </a:pPr>
            <a:r>
              <a:rPr lang="en-IN" sz="2000" b="1" i="0" u="none" strike="noStrike" dirty="0">
                <a:solidFill>
                  <a:srgbClr val="000000"/>
                </a:solidFill>
                <a:effectLst/>
                <a:latin typeface="Arial" panose="020B0604020202020204" pitchFamily="34" charset="0"/>
              </a:rPr>
              <a:t>Project Tile – Nutrition Agent</a:t>
            </a:r>
            <a:endParaRPr lang="en-IN" sz="2000" b="0" dirty="0">
              <a:effectLst/>
            </a:endParaRPr>
          </a:p>
          <a:p>
            <a:pPr>
              <a:buNone/>
            </a:pPr>
            <a:br>
              <a:rPr lang="en-IN" sz="2000" dirty="0"/>
            </a:br>
            <a:endParaRPr lang="en-IN" sz="2000" dirty="0"/>
          </a:p>
        </p:txBody>
      </p:sp>
      <p:sp>
        <p:nvSpPr>
          <p:cNvPr id="10" name="TextBox 9">
            <a:extLst>
              <a:ext uri="{FF2B5EF4-FFF2-40B4-BE49-F238E27FC236}">
                <a16:creationId xmlns:a16="http://schemas.microsoft.com/office/drawing/2014/main" id="{BB224CBD-7785-7349-21E7-7D3883908F55}"/>
              </a:ext>
            </a:extLst>
          </p:cNvPr>
          <p:cNvSpPr txBox="1"/>
          <p:nvPr/>
        </p:nvSpPr>
        <p:spPr>
          <a:xfrm>
            <a:off x="1415845" y="1371047"/>
            <a:ext cx="10186220" cy="400110"/>
          </a:xfrm>
          <a:prstGeom prst="rect">
            <a:avLst/>
          </a:prstGeom>
          <a:noFill/>
        </p:spPr>
        <p:txBody>
          <a:bodyPr wrap="square">
            <a:spAutoFit/>
          </a:bodyPr>
          <a:lstStyle/>
          <a:p>
            <a:r>
              <a:rPr lang="en-IN" sz="2000" b="1" i="0" u="none" strike="noStrike" dirty="0">
                <a:solidFill>
                  <a:srgbClr val="000000"/>
                </a:solidFill>
                <a:effectLst/>
                <a:latin typeface="Arial" panose="020B0604020202020204" pitchFamily="34" charset="0"/>
              </a:rPr>
              <a:t>Domain of  Project – </a:t>
            </a:r>
            <a:r>
              <a:rPr lang="en-IN" sz="2000" b="1" dirty="0"/>
              <a:t>Artificial </a:t>
            </a:r>
            <a:r>
              <a:rPr lang="en-IN" sz="2000" b="1" dirty="0">
                <a:latin typeface="Arial" panose="020B0604020202020204" pitchFamily="34" charset="0"/>
                <a:cs typeface="Arial" panose="020B0604020202020204" pitchFamily="34" charset="0"/>
              </a:rPr>
              <a:t>Intelligence</a:t>
            </a:r>
            <a:r>
              <a:rPr lang="en-IN" sz="2000" b="1" dirty="0"/>
              <a:t> (AI) &amp; HealthTech</a:t>
            </a:r>
          </a:p>
        </p:txBody>
      </p:sp>
    </p:spTree>
    <p:extLst>
      <p:ext uri="{BB962C8B-B14F-4D97-AF65-F5344CB8AC3E}">
        <p14:creationId xmlns:p14="http://schemas.microsoft.com/office/powerpoint/2010/main" val="1902691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159244D-159E-8110-E641-3FB306561519}"/>
              </a:ext>
            </a:extLst>
          </p:cNvPr>
          <p:cNvSpPr txBox="1"/>
          <p:nvPr/>
        </p:nvSpPr>
        <p:spPr>
          <a:xfrm>
            <a:off x="452284" y="416401"/>
            <a:ext cx="11356257" cy="5447645"/>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cs typeface="Arial" panose="020B0604020202020204" pitchFamily="34" charset="0"/>
              </a:rPr>
              <a:t>Problem Statement –</a:t>
            </a:r>
            <a:endParaRPr lang="en-IN" sz="2800" b="0" dirty="0">
              <a:effectLst/>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Problem Statement : Nutrition Agent</a:t>
            </a:r>
          </a:p>
          <a:p>
            <a:pPr>
              <a:buNone/>
            </a:pPr>
            <a:br>
              <a:rPr lang="en-IN" sz="2000" dirty="0">
                <a:latin typeface="Arial" panose="020B0604020202020204" pitchFamily="34" charset="0"/>
                <a:cs typeface="Arial" panose="020B0604020202020204" pitchFamily="34" charset="0"/>
              </a:rPr>
            </a:br>
            <a:r>
              <a:rPr lang="en-IN" sz="2000" b="1" dirty="0">
                <a:latin typeface="Arial" panose="020B0604020202020204" pitchFamily="34" charset="0"/>
                <a:cs typeface="Arial" panose="020B0604020202020204" pitchFamily="34" charset="0"/>
              </a:rPr>
              <a:t>The Challenge</a:t>
            </a:r>
          </a:p>
          <a:p>
            <a:pPr algn="just">
              <a:buNone/>
            </a:pPr>
            <a:r>
              <a:rPr lang="en-IN" sz="2000" dirty="0">
                <a:latin typeface="Arial" panose="020B0604020202020204" pitchFamily="34" charset="0"/>
                <a:cs typeface="Arial" panose="020B0604020202020204" pitchFamily="34" charset="0"/>
              </a:rPr>
              <a:t>Many</a:t>
            </a:r>
            <a:r>
              <a:rPr lang="en-IN" sz="2000" dirty="0"/>
              <a:t> people struggle to maintain healthy eating habits due to a lack of personalized nutrition guidance. Generic diet plans often ignore individual health conditions, dietary preferences, and fitness goals, making it difficult to make informed food choices.</a:t>
            </a:r>
          </a:p>
          <a:p>
            <a:pPr>
              <a:buNone/>
            </a:pPr>
            <a:endParaRPr lang="en-IN" sz="2000" dirty="0">
              <a:latin typeface="Arial" panose="020B0604020202020204" pitchFamily="34" charset="0"/>
              <a:cs typeface="Arial" panose="020B0604020202020204" pitchFamily="34" charset="0"/>
            </a:endParaRPr>
          </a:p>
          <a:p>
            <a:r>
              <a:rPr lang="en-IN" sz="2000" b="1" dirty="0"/>
              <a:t>The Objective</a:t>
            </a:r>
          </a:p>
          <a:p>
            <a:r>
              <a:rPr lang="en-IN" sz="2000" dirty="0"/>
              <a:t>Develop an </a:t>
            </a:r>
            <a:r>
              <a:rPr lang="en-IN" sz="2000" b="1" dirty="0"/>
              <a:t>AI-powered Nutrition Agent</a:t>
            </a:r>
            <a:r>
              <a:rPr lang="en-IN" sz="2000" dirty="0"/>
              <a:t> using </a:t>
            </a:r>
            <a:r>
              <a:rPr lang="en-IN" sz="2000" b="1" dirty="0"/>
              <a:t>IBM Watsonx.ai Granite Models </a:t>
            </a:r>
            <a:r>
              <a:rPr lang="en-IN" sz="2000" dirty="0"/>
              <a:t>that:</a:t>
            </a:r>
          </a:p>
          <a:p>
            <a:pPr marL="342900" indent="-342900">
              <a:buFont typeface="Arial" panose="020B0604020202020204" pitchFamily="34" charset="0"/>
              <a:buChar char="•"/>
            </a:pPr>
            <a:r>
              <a:rPr lang="en-IN" sz="2000" dirty="0"/>
              <a:t>Recommends personalized meal plans. </a:t>
            </a:r>
          </a:p>
          <a:p>
            <a:pPr marL="342900" indent="-342900">
              <a:buFont typeface="Arial" panose="020B0604020202020204" pitchFamily="34" charset="0"/>
              <a:buChar char="•"/>
            </a:pPr>
            <a:r>
              <a:rPr lang="en-IN" sz="2000" dirty="0"/>
              <a:t>Provides AI-based nutrition guidance. </a:t>
            </a:r>
          </a:p>
          <a:p>
            <a:pPr marL="342900" indent="-342900">
              <a:buFont typeface="Arial" panose="020B0604020202020204" pitchFamily="34" charset="0"/>
              <a:buChar char="•"/>
            </a:pPr>
            <a:r>
              <a:rPr lang="en-IN" sz="2000" dirty="0"/>
              <a:t>Calculates BMI and calorie needs. </a:t>
            </a:r>
          </a:p>
          <a:p>
            <a:pPr marL="342900" indent="-342900">
              <a:buFont typeface="Arial" panose="020B0604020202020204" pitchFamily="34" charset="0"/>
              <a:buChar char="•"/>
            </a:pPr>
            <a:r>
              <a:rPr lang="en-IN" sz="2000" dirty="0"/>
              <a:t>Supports family nutrition profiles. </a:t>
            </a:r>
          </a:p>
          <a:p>
            <a:pPr marL="342900" indent="-342900">
              <a:buFont typeface="Arial" panose="020B0604020202020204" pitchFamily="34" charset="0"/>
              <a:buChar char="•"/>
            </a:pPr>
            <a:r>
              <a:rPr lang="en-IN" sz="2000" dirty="0"/>
              <a:t>Displays nutrition insights through an interactive dashboard.</a:t>
            </a:r>
          </a:p>
          <a:p>
            <a:pPr>
              <a:buNone/>
            </a:pPr>
            <a:endParaRPr lang="en-IN" sz="2000" dirty="0">
              <a:latin typeface="Arial" panose="020B0604020202020204" pitchFamily="34" charset="0"/>
              <a:cs typeface="Arial" panose="020B0604020202020204" pitchFamily="34" charset="0"/>
            </a:endParaRPr>
          </a:p>
          <a:p>
            <a:pPr>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0120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06B16-5405-61B2-27BD-64977485A9C7}"/>
              </a:ext>
            </a:extLst>
          </p:cNvPr>
          <p:cNvSpPr txBox="1"/>
          <p:nvPr/>
        </p:nvSpPr>
        <p:spPr>
          <a:xfrm>
            <a:off x="491613" y="386904"/>
            <a:ext cx="11041626" cy="5970865"/>
          </a:xfrm>
          <a:prstGeom prst="rect">
            <a:avLst/>
          </a:prstGeom>
          <a:noFill/>
        </p:spPr>
        <p:txBody>
          <a:bodyPr wrap="square">
            <a:spAutoFit/>
          </a:bodyPr>
          <a:lstStyle/>
          <a:p>
            <a:pPr algn="just" rtl="0">
              <a:buNone/>
            </a:pPr>
            <a:r>
              <a:rPr lang="en-IN" sz="2800" b="1" i="0" u="none" strike="noStrike" dirty="0">
                <a:solidFill>
                  <a:srgbClr val="000000"/>
                </a:solidFill>
                <a:effectLst/>
                <a:latin typeface="Arial" panose="020B0604020202020204" pitchFamily="34" charset="0"/>
                <a:cs typeface="Arial" panose="020B0604020202020204" pitchFamily="34" charset="0"/>
              </a:rPr>
              <a:t>Proposed Solution -</a:t>
            </a:r>
            <a:endParaRPr lang="en-IN" sz="2800" b="0" dirty="0">
              <a:effectLst/>
              <a:latin typeface="Arial" panose="020B0604020202020204" pitchFamily="34" charset="0"/>
              <a:cs typeface="Arial" panose="020B0604020202020204" pitchFamily="34" charset="0"/>
            </a:endParaRPr>
          </a:p>
          <a:p>
            <a:pPr algn="just">
              <a:buNone/>
            </a:pPr>
            <a:endParaRPr lang="en-IN" dirty="0"/>
          </a:p>
          <a:p>
            <a:pPr algn="just"/>
            <a:r>
              <a:rPr lang="en-IN" sz="2000" b="1" dirty="0">
                <a:latin typeface="Arial" panose="020B0604020202020204" pitchFamily="34" charset="0"/>
                <a:cs typeface="Arial" panose="020B0604020202020204" pitchFamily="34" charset="0"/>
              </a:rPr>
              <a:t>Proposed Solution: AI-Powered Nutrition Agent</a:t>
            </a:r>
          </a:p>
          <a:p>
            <a:pPr algn="just"/>
            <a:r>
              <a:rPr lang="en-IN" sz="2000" dirty="0">
                <a:latin typeface="Arial" panose="020B0604020202020204" pitchFamily="34" charset="0"/>
                <a:cs typeface="Arial" panose="020B0604020202020204" pitchFamily="34" charset="0"/>
              </a:rPr>
              <a:t>The proposed solution is an </a:t>
            </a:r>
            <a:r>
              <a:rPr lang="en-IN" sz="2000" b="1" dirty="0">
                <a:latin typeface="Arial" panose="020B0604020202020204" pitchFamily="34" charset="0"/>
                <a:cs typeface="Arial" panose="020B0604020202020204" pitchFamily="34" charset="0"/>
              </a:rPr>
              <a:t>AI-powered Nutrition Agent</a:t>
            </a:r>
            <a:r>
              <a:rPr lang="en-IN" sz="2000" dirty="0">
                <a:latin typeface="Arial" panose="020B0604020202020204" pitchFamily="34" charset="0"/>
                <a:cs typeface="Arial" panose="020B0604020202020204" pitchFamily="34" charset="0"/>
              </a:rPr>
              <a:t> developed using </a:t>
            </a:r>
            <a:r>
              <a:rPr lang="en-IN" sz="2000" b="1" dirty="0">
                <a:latin typeface="Arial" panose="020B0604020202020204" pitchFamily="34" charset="0"/>
                <a:cs typeface="Arial" panose="020B0604020202020204" pitchFamily="34" charset="0"/>
              </a:rPr>
              <a:t>Python Flask</a:t>
            </a:r>
            <a:r>
              <a:rPr lang="en-IN" sz="2000" dirty="0">
                <a:latin typeface="Arial" panose="020B0604020202020204" pitchFamily="34" charset="0"/>
                <a:cs typeface="Arial" panose="020B0604020202020204" pitchFamily="34" charset="0"/>
              </a:rPr>
              <a:t> and </a:t>
            </a:r>
            <a:r>
              <a:rPr lang="en-IN" sz="2000" b="1" dirty="0">
                <a:latin typeface="Arial" panose="020B0604020202020204" pitchFamily="34" charset="0"/>
                <a:cs typeface="Arial" panose="020B0604020202020204" pitchFamily="34" charset="0"/>
              </a:rPr>
              <a:t>IBM watsonx.ai Granite Models</a:t>
            </a:r>
            <a:r>
              <a:rPr lang="en-IN" sz="2000" dirty="0">
                <a:latin typeface="Arial" panose="020B0604020202020204" pitchFamily="34" charset="0"/>
                <a:cs typeface="Arial" panose="020B0604020202020204" pitchFamily="34" charset="0"/>
              </a:rPr>
              <a:t> to provide intelligent and personalized nutrition guidance. The application enables users to interact with an AI assistant that offers dietary recommendations based on age, BMI, health conditions, lifestyle, and food preferences.</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The system includes intelligent modules such as </a:t>
            </a:r>
            <a:r>
              <a:rPr lang="en-IN" sz="2000" b="1" dirty="0">
                <a:latin typeface="Arial" panose="020B0604020202020204" pitchFamily="34" charset="0"/>
                <a:cs typeface="Arial" panose="020B0604020202020204" pitchFamily="34" charset="0"/>
              </a:rPr>
              <a:t>AI Nutrition Chat, Personalized Meal Planning, BMI Calculator, Food Nutrition Analysis, Family Profile Management,</a:t>
            </a:r>
            <a:r>
              <a:rPr lang="en-IN" sz="2000" dirty="0">
                <a:latin typeface="Arial" panose="020B0604020202020204" pitchFamily="34" charset="0"/>
                <a:cs typeface="Arial" panose="020B0604020202020204" pitchFamily="34" charset="0"/>
              </a:rPr>
              <a:t> and an </a:t>
            </a:r>
            <a:r>
              <a:rPr lang="en-IN" sz="2000" b="1" dirty="0">
                <a:latin typeface="Arial" panose="020B0604020202020204" pitchFamily="34" charset="0"/>
                <a:cs typeface="Arial" panose="020B0604020202020204" pitchFamily="34" charset="0"/>
              </a:rPr>
              <a:t>Interactive Nutrition Dashboard</a:t>
            </a:r>
            <a:r>
              <a:rPr lang="en-IN" sz="2000" dirty="0">
                <a:latin typeface="Arial" panose="020B0604020202020204" pitchFamily="34" charset="0"/>
                <a:cs typeface="Arial" panose="020B0604020202020204" pitchFamily="34" charset="0"/>
              </a:rPr>
              <a:t> that helps users monitor their nutritional intake and make healthier food choices.</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Powered by IBM Granite models, the solution delivers accurate, context-aware responses and supports healthier decision-making through personalized recommendations and real-time nutritional assistance. It provides an easy-to-use platform that promotes balanced eating habits and overall well-being.</a:t>
            </a:r>
          </a:p>
          <a:p>
            <a:pPr algn="just">
              <a:buNone/>
            </a:pPr>
            <a:br>
              <a:rPr lang="en-IN" dirty="0"/>
            </a:br>
            <a:endParaRPr lang="en-IN" dirty="0"/>
          </a:p>
        </p:txBody>
      </p:sp>
    </p:spTree>
    <p:extLst>
      <p:ext uri="{BB962C8B-B14F-4D97-AF65-F5344CB8AC3E}">
        <p14:creationId xmlns:p14="http://schemas.microsoft.com/office/powerpoint/2010/main" val="371342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764D2-C47A-40E7-EB6A-7F5FFAFFCE28}"/>
              </a:ext>
            </a:extLst>
          </p:cNvPr>
          <p:cNvSpPr txBox="1"/>
          <p:nvPr/>
        </p:nvSpPr>
        <p:spPr>
          <a:xfrm>
            <a:off x="589935" y="377073"/>
            <a:ext cx="11110451" cy="1077218"/>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rPr>
              <a:t>Technology Used</a:t>
            </a:r>
            <a:endParaRPr lang="en-IN" sz="2800" b="0" dirty="0">
              <a:effectLst/>
            </a:endParaRPr>
          </a:p>
          <a:p>
            <a:pPr>
              <a:buNone/>
            </a:pPr>
            <a:br>
              <a:rPr lang="en-IN" dirty="0"/>
            </a:br>
            <a:endParaRPr lang="en-IN" dirty="0"/>
          </a:p>
        </p:txBody>
      </p:sp>
      <p:graphicFrame>
        <p:nvGraphicFramePr>
          <p:cNvPr id="4" name="Table 3">
            <a:extLst>
              <a:ext uri="{FF2B5EF4-FFF2-40B4-BE49-F238E27FC236}">
                <a16:creationId xmlns:a16="http://schemas.microsoft.com/office/drawing/2014/main" id="{F04F8AA9-DC68-81BC-7864-1BF6BB7A0B1B}"/>
              </a:ext>
            </a:extLst>
          </p:cNvPr>
          <p:cNvGraphicFramePr>
            <a:graphicFrameLocks noGrp="1"/>
          </p:cNvGraphicFramePr>
          <p:nvPr>
            <p:extLst>
              <p:ext uri="{D42A27DB-BD31-4B8C-83A1-F6EECF244321}">
                <p14:modId xmlns:p14="http://schemas.microsoft.com/office/powerpoint/2010/main" val="461448664"/>
              </p:ext>
            </p:extLst>
          </p:nvPr>
        </p:nvGraphicFramePr>
        <p:xfrm>
          <a:off x="589935" y="1048019"/>
          <a:ext cx="11012130" cy="4297680"/>
        </p:xfrm>
        <a:graphic>
          <a:graphicData uri="http://schemas.openxmlformats.org/drawingml/2006/table">
            <a:tbl>
              <a:tblPr/>
              <a:tblGrid>
                <a:gridCol w="4655689">
                  <a:extLst>
                    <a:ext uri="{9D8B030D-6E8A-4147-A177-3AD203B41FA5}">
                      <a16:colId xmlns:a16="http://schemas.microsoft.com/office/drawing/2014/main" val="3314941595"/>
                    </a:ext>
                  </a:extLst>
                </a:gridCol>
                <a:gridCol w="6356441">
                  <a:extLst>
                    <a:ext uri="{9D8B030D-6E8A-4147-A177-3AD203B41FA5}">
                      <a16:colId xmlns:a16="http://schemas.microsoft.com/office/drawing/2014/main" val="3742803230"/>
                    </a:ext>
                  </a:extLst>
                </a:gridCol>
              </a:tblGrid>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Python Flask </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dirty="0">
                          <a:latin typeface="Arial" panose="020B0604020202020204" pitchFamily="34" charset="0"/>
                          <a:cs typeface="Arial" panose="020B0604020202020204" pitchFamily="34" charset="0"/>
                        </a:rPr>
                        <a:t>Backend framework for developing and managing the web application.</a:t>
                      </a:r>
                    </a:p>
                  </a:txBody>
                  <a:tcPr anchor="ctr">
                    <a:lnL>
                      <a:noFill/>
                    </a:lnL>
                    <a:lnR>
                      <a:noFill/>
                    </a:lnR>
                    <a:lnT>
                      <a:noFill/>
                    </a:lnT>
                    <a:lnB>
                      <a:noFill/>
                    </a:lnB>
                    <a:noFill/>
                  </a:tcPr>
                </a:tc>
                <a:extLst>
                  <a:ext uri="{0D108BD9-81ED-4DB2-BD59-A6C34878D82A}">
                    <a16:rowId xmlns:a16="http://schemas.microsoft.com/office/drawing/2014/main" val="3397883482"/>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IBM Granite Model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a:latin typeface="Arial" panose="020B0604020202020204" pitchFamily="34" charset="0"/>
                          <a:cs typeface="Arial" panose="020B0604020202020204" pitchFamily="34" charset="0"/>
                        </a:rPr>
                        <a:t>Provides AI-powered nutrition guidance, reasoning, and personalized recommendations.</a:t>
                      </a:r>
                    </a:p>
                  </a:txBody>
                  <a:tcPr anchor="ctr">
                    <a:lnL>
                      <a:noFill/>
                    </a:lnL>
                    <a:lnR>
                      <a:noFill/>
                    </a:lnR>
                    <a:lnT>
                      <a:noFill/>
                    </a:lnT>
                    <a:lnB>
                      <a:noFill/>
                    </a:lnB>
                    <a:noFill/>
                  </a:tcPr>
                </a:tc>
                <a:extLst>
                  <a:ext uri="{0D108BD9-81ED-4DB2-BD59-A6C34878D82A}">
                    <a16:rowId xmlns:a16="http://schemas.microsoft.com/office/drawing/2014/main" val="1367250827"/>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IBM watsonx.ai</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a:latin typeface="Arial" panose="020B0604020202020204" pitchFamily="34" charset="0"/>
                          <a:cs typeface="Arial" panose="020B0604020202020204" pitchFamily="34" charset="0"/>
                        </a:rPr>
                        <a:t>Enables access to Granite models for AI inference and intelligent responses.</a:t>
                      </a:r>
                    </a:p>
                  </a:txBody>
                  <a:tcPr anchor="ctr">
                    <a:lnL>
                      <a:noFill/>
                    </a:lnL>
                    <a:lnR>
                      <a:noFill/>
                    </a:lnR>
                    <a:lnT>
                      <a:noFill/>
                    </a:lnT>
                    <a:lnB>
                      <a:noFill/>
                    </a:lnB>
                    <a:noFill/>
                  </a:tcPr>
                </a:tc>
                <a:extLst>
                  <a:ext uri="{0D108BD9-81ED-4DB2-BD59-A6C34878D82A}">
                    <a16:rowId xmlns:a16="http://schemas.microsoft.com/office/drawing/2014/main" val="4114791564"/>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IBM Cloud</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a:latin typeface="Arial" panose="020B0604020202020204" pitchFamily="34" charset="0"/>
                          <a:cs typeface="Arial" panose="020B0604020202020204" pitchFamily="34" charset="0"/>
                        </a:rPr>
                        <a:t>Securely hosts and manages IBM watsonx.ai services and APIs.</a:t>
                      </a:r>
                    </a:p>
                  </a:txBody>
                  <a:tcPr anchor="ctr">
                    <a:lnL>
                      <a:noFill/>
                    </a:lnL>
                    <a:lnR>
                      <a:noFill/>
                    </a:lnR>
                    <a:lnT>
                      <a:noFill/>
                    </a:lnT>
                    <a:lnB>
                      <a:noFill/>
                    </a:lnB>
                    <a:noFill/>
                  </a:tcPr>
                </a:tc>
                <a:extLst>
                  <a:ext uri="{0D108BD9-81ED-4DB2-BD59-A6C34878D82A}">
                    <a16:rowId xmlns:a16="http://schemas.microsoft.com/office/drawing/2014/main" val="3917983240"/>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HTML, CSS &amp; JavaScript</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a:latin typeface="Arial" panose="020B0604020202020204" pitchFamily="34" charset="0"/>
                          <a:cs typeface="Arial" panose="020B0604020202020204" pitchFamily="34" charset="0"/>
                        </a:rPr>
                        <a:t>Build a responsive and interactive user interface.</a:t>
                      </a:r>
                    </a:p>
                  </a:txBody>
                  <a:tcPr anchor="ctr">
                    <a:lnL>
                      <a:noFill/>
                    </a:lnL>
                    <a:lnR>
                      <a:noFill/>
                    </a:lnR>
                    <a:lnT>
                      <a:noFill/>
                    </a:lnT>
                    <a:lnB>
                      <a:noFill/>
                    </a:lnB>
                    <a:noFill/>
                  </a:tcPr>
                </a:tc>
                <a:extLst>
                  <a:ext uri="{0D108BD9-81ED-4DB2-BD59-A6C34878D82A}">
                    <a16:rowId xmlns:a16="http://schemas.microsoft.com/office/drawing/2014/main" val="3806134319"/>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Render</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a:latin typeface="Arial" panose="020B0604020202020204" pitchFamily="34" charset="0"/>
                          <a:cs typeface="Arial" panose="020B0604020202020204" pitchFamily="34" charset="0"/>
                        </a:rPr>
                        <a:t>Cloud platform used to deploy and host the Nutrition Agent application.</a:t>
                      </a:r>
                    </a:p>
                  </a:txBody>
                  <a:tcPr anchor="ctr">
                    <a:lnL>
                      <a:noFill/>
                    </a:lnL>
                    <a:lnR>
                      <a:noFill/>
                    </a:lnR>
                    <a:lnT>
                      <a:noFill/>
                    </a:lnT>
                    <a:lnB>
                      <a:noFill/>
                    </a:lnB>
                    <a:noFill/>
                  </a:tcPr>
                </a:tc>
                <a:extLst>
                  <a:ext uri="{0D108BD9-81ED-4DB2-BD59-A6C34878D82A}">
                    <a16:rowId xmlns:a16="http://schemas.microsoft.com/office/drawing/2014/main" val="2910547831"/>
                  </a:ext>
                </a:extLst>
              </a:tr>
              <a:tr h="0">
                <a:tc>
                  <a:txBody>
                    <a:bodyPr/>
                    <a:lstStyle/>
                    <a:p>
                      <a:pPr marL="285750" indent="-285750">
                        <a:lnSpc>
                          <a:spcPct val="1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GitHub</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nSpc>
                          <a:spcPct val="100000"/>
                        </a:lnSpc>
                        <a:buNone/>
                      </a:pPr>
                      <a:r>
                        <a:rPr lang="en-IN" sz="2000" dirty="0">
                          <a:latin typeface="Arial" panose="020B0604020202020204" pitchFamily="34" charset="0"/>
                          <a:cs typeface="Arial" panose="020B0604020202020204" pitchFamily="34" charset="0"/>
                        </a:rPr>
                        <a:t>Version control and source code management.</a:t>
                      </a:r>
                    </a:p>
                  </a:txBody>
                  <a:tcPr anchor="ctr">
                    <a:lnL>
                      <a:noFill/>
                    </a:lnL>
                    <a:lnR>
                      <a:noFill/>
                    </a:lnR>
                    <a:lnT>
                      <a:noFill/>
                    </a:lnT>
                    <a:lnB>
                      <a:noFill/>
                    </a:lnB>
                    <a:noFill/>
                  </a:tcPr>
                </a:tc>
                <a:extLst>
                  <a:ext uri="{0D108BD9-81ED-4DB2-BD59-A6C34878D82A}">
                    <a16:rowId xmlns:a16="http://schemas.microsoft.com/office/drawing/2014/main" val="4166325260"/>
                  </a:ext>
                </a:extLst>
              </a:tr>
            </a:tbl>
          </a:graphicData>
        </a:graphic>
      </p:graphicFrame>
    </p:spTree>
    <p:extLst>
      <p:ext uri="{BB962C8B-B14F-4D97-AF65-F5344CB8AC3E}">
        <p14:creationId xmlns:p14="http://schemas.microsoft.com/office/powerpoint/2010/main" val="148608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181F0-4B1E-2F8C-4B46-FFAD516C4CBC}"/>
              </a:ext>
            </a:extLst>
          </p:cNvPr>
          <p:cNvSpPr txBox="1"/>
          <p:nvPr/>
        </p:nvSpPr>
        <p:spPr>
          <a:xfrm>
            <a:off x="373626" y="308246"/>
            <a:ext cx="6096000" cy="1384995"/>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cs typeface="Arial" panose="020B0604020202020204" pitchFamily="34" charset="0"/>
              </a:rPr>
              <a:t>Architecture blueprint -</a:t>
            </a:r>
            <a:endParaRPr lang="en-IN" sz="2800" b="0" dirty="0">
              <a:effectLst/>
              <a:latin typeface="Arial" panose="020B0604020202020204" pitchFamily="34" charset="0"/>
              <a:cs typeface="Arial" panose="020B0604020202020204" pitchFamily="34" charset="0"/>
            </a:endParaRPr>
          </a:p>
          <a:p>
            <a:pPr>
              <a:buNone/>
            </a:pPr>
            <a:br>
              <a:rPr lang="en-IN" sz="2800" dirty="0">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DB33680-7C78-86A3-BC29-B492E8749C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408" y="1046482"/>
            <a:ext cx="9326275" cy="5739246"/>
          </a:xfrm>
          <a:prstGeom prst="rect">
            <a:avLst/>
          </a:prstGeom>
        </p:spPr>
      </p:pic>
    </p:spTree>
    <p:extLst>
      <p:ext uri="{BB962C8B-B14F-4D97-AF65-F5344CB8AC3E}">
        <p14:creationId xmlns:p14="http://schemas.microsoft.com/office/powerpoint/2010/main" val="1534569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2A0E62-0A18-9BC0-4C32-C58A709DD8A7}"/>
              </a:ext>
            </a:extLst>
          </p:cNvPr>
          <p:cNvSpPr txBox="1"/>
          <p:nvPr/>
        </p:nvSpPr>
        <p:spPr>
          <a:xfrm>
            <a:off x="403122" y="256108"/>
            <a:ext cx="9055509" cy="1138773"/>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rPr>
              <a:t>Role</a:t>
            </a:r>
            <a:r>
              <a:rPr lang="en-IN" sz="3200" b="1" i="0" u="none" strike="noStrike" dirty="0">
                <a:solidFill>
                  <a:srgbClr val="000000"/>
                </a:solidFill>
                <a:effectLst/>
                <a:latin typeface="Arial" panose="020B0604020202020204" pitchFamily="34" charset="0"/>
              </a:rPr>
              <a:t> of Agentic AI in the solution </a:t>
            </a:r>
            <a:endParaRPr lang="en-IN" b="0" dirty="0">
              <a:effectLst/>
            </a:endParaRPr>
          </a:p>
          <a:p>
            <a:pPr>
              <a:buNone/>
            </a:pPr>
            <a:br>
              <a:rPr lang="en-IN" dirty="0"/>
            </a:br>
            <a:endParaRPr lang="en-IN" dirty="0"/>
          </a:p>
        </p:txBody>
      </p:sp>
      <p:sp>
        <p:nvSpPr>
          <p:cNvPr id="5" name="TextBox 4">
            <a:extLst>
              <a:ext uri="{FF2B5EF4-FFF2-40B4-BE49-F238E27FC236}">
                <a16:creationId xmlns:a16="http://schemas.microsoft.com/office/drawing/2014/main" id="{7EDFA9DB-8B01-A8C1-84F8-D9911DEA9D8C}"/>
              </a:ext>
            </a:extLst>
          </p:cNvPr>
          <p:cNvSpPr txBox="1"/>
          <p:nvPr/>
        </p:nvSpPr>
        <p:spPr>
          <a:xfrm>
            <a:off x="580102" y="1082506"/>
            <a:ext cx="6096000" cy="4247317"/>
          </a:xfrm>
          <a:prstGeom prst="rect">
            <a:avLst/>
          </a:prstGeom>
          <a:noFill/>
        </p:spPr>
        <p:txBody>
          <a:bodyPr wrap="square">
            <a:spAutoFit/>
          </a:bodyPr>
          <a:lstStyle/>
          <a:p>
            <a:pPr>
              <a:buNone/>
            </a:pPr>
            <a:r>
              <a:rPr lang="en-IN" b="1" dirty="0"/>
              <a:t>Role of Agentic AI in Nutrition Agent</a:t>
            </a:r>
          </a:p>
          <a:p>
            <a:pPr>
              <a:buNone/>
            </a:pPr>
            <a:r>
              <a:rPr lang="en-IN" dirty="0"/>
              <a:t>Agentic AI enables the Nutrition Agent to understand user queries and provide intelligent, personalized nutrition guidance. Powered by </a:t>
            </a:r>
            <a:r>
              <a:rPr lang="en-IN" b="1" dirty="0"/>
              <a:t>IBM watsonx.ai</a:t>
            </a:r>
            <a:r>
              <a:rPr lang="en-IN" dirty="0"/>
              <a:t> and </a:t>
            </a:r>
            <a:r>
              <a:rPr lang="en-IN" b="1" dirty="0"/>
              <a:t>IBM Granite Models</a:t>
            </a:r>
            <a:r>
              <a:rPr lang="en-IN" dirty="0"/>
              <a:t>, the agent </a:t>
            </a:r>
            <a:r>
              <a:rPr lang="en-IN" dirty="0" err="1"/>
              <a:t>analyzes</a:t>
            </a:r>
            <a:r>
              <a:rPr lang="en-IN" dirty="0"/>
              <a:t> user inputs such as age, BMI, dietary preferences, and health goals to generate relevant meal recommendations and health insights.</a:t>
            </a:r>
          </a:p>
          <a:p>
            <a:pPr>
              <a:buNone/>
            </a:pPr>
            <a:endParaRPr lang="en-IN" dirty="0"/>
          </a:p>
          <a:p>
            <a:pPr>
              <a:buNone/>
            </a:pPr>
            <a:r>
              <a:rPr lang="en-IN" dirty="0"/>
              <a:t>The AI adapts its responses based on user interactions, answers nutrition-related questions, and assists in meal planning, BMI analysis, and food recommendations. By combining reasoning with contextual understanding, the Nutrition Agent delivers accurate, personalized, and interactive support, helping users make healthier dietary decisions and maintain a balanced lifestyle.</a:t>
            </a:r>
          </a:p>
        </p:txBody>
      </p:sp>
      <p:pic>
        <p:nvPicPr>
          <p:cNvPr id="6" name="Picture 5" descr="Plan and Execute Agents with Chain of Reasoning: An Improved ...">
            <a:extLst>
              <a:ext uri="{FF2B5EF4-FFF2-40B4-BE49-F238E27FC236}">
                <a16:creationId xmlns:a16="http://schemas.microsoft.com/office/drawing/2014/main" id="{C234A93C-BA2A-FA83-AB84-EC61F2F780A2}"/>
              </a:ext>
            </a:extLst>
          </p:cNvPr>
          <p:cNvPicPr>
            <a:picLocks noChangeAspect="1"/>
          </p:cNvPicPr>
          <p:nvPr/>
        </p:nvPicPr>
        <p:blipFill>
          <a:blip r:embed="rId2"/>
          <a:stretch>
            <a:fillRect/>
          </a:stretch>
        </p:blipFill>
        <p:spPr>
          <a:xfrm>
            <a:off x="6676102" y="946355"/>
            <a:ext cx="5147188" cy="5147188"/>
          </a:xfrm>
          <a:prstGeom prst="rect">
            <a:avLst/>
          </a:prstGeom>
        </p:spPr>
      </p:pic>
    </p:spTree>
    <p:extLst>
      <p:ext uri="{BB962C8B-B14F-4D97-AF65-F5344CB8AC3E}">
        <p14:creationId xmlns:p14="http://schemas.microsoft.com/office/powerpoint/2010/main" val="276634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6C253-4AE4-49B6-D511-2F51760884F5}"/>
              </a:ext>
            </a:extLst>
          </p:cNvPr>
          <p:cNvSpPr txBox="1"/>
          <p:nvPr/>
        </p:nvSpPr>
        <p:spPr>
          <a:xfrm>
            <a:off x="491613" y="495059"/>
            <a:ext cx="6096000" cy="1015663"/>
          </a:xfrm>
          <a:prstGeom prst="rect">
            <a:avLst/>
          </a:prstGeom>
          <a:noFill/>
        </p:spPr>
        <p:txBody>
          <a:bodyPr wrap="square">
            <a:spAutoFit/>
          </a:bodyPr>
          <a:lstStyle/>
          <a:p>
            <a:pPr rtl="0">
              <a:buNone/>
            </a:pPr>
            <a:r>
              <a:rPr lang="en-IN" sz="2400" b="1" i="0" u="none" strike="noStrike" dirty="0">
                <a:solidFill>
                  <a:srgbClr val="000000"/>
                </a:solidFill>
                <a:effectLst/>
                <a:latin typeface="Arial" panose="020B0604020202020204" pitchFamily="34" charset="0"/>
              </a:rPr>
              <a:t>Token Usage </a:t>
            </a:r>
            <a:endParaRPr lang="en-IN" b="0" dirty="0">
              <a:effectLst/>
            </a:endParaRPr>
          </a:p>
          <a:p>
            <a:pPr>
              <a:buNone/>
            </a:pPr>
            <a:br>
              <a:rPr lang="en-IN" dirty="0"/>
            </a:br>
            <a:endParaRPr lang="en-IN" dirty="0"/>
          </a:p>
        </p:txBody>
      </p:sp>
      <p:pic>
        <p:nvPicPr>
          <p:cNvPr id="4" name="Picture 3">
            <a:extLst>
              <a:ext uri="{FF2B5EF4-FFF2-40B4-BE49-F238E27FC236}">
                <a16:creationId xmlns:a16="http://schemas.microsoft.com/office/drawing/2014/main" id="{6E51A161-C047-7956-EF61-C465E113C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63" y="2374420"/>
            <a:ext cx="5053780" cy="2599777"/>
          </a:xfrm>
          <a:prstGeom prst="rect">
            <a:avLst/>
          </a:prstGeom>
        </p:spPr>
      </p:pic>
      <p:pic>
        <p:nvPicPr>
          <p:cNvPr id="6" name="Picture 5">
            <a:extLst>
              <a:ext uri="{FF2B5EF4-FFF2-40B4-BE49-F238E27FC236}">
                <a16:creationId xmlns:a16="http://schemas.microsoft.com/office/drawing/2014/main" id="{C168B5A6-57A0-610D-5078-789F41C6B1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8604" y="2374419"/>
            <a:ext cx="5497654" cy="2599777"/>
          </a:xfrm>
          <a:prstGeom prst="rect">
            <a:avLst/>
          </a:prstGeom>
        </p:spPr>
      </p:pic>
      <p:sp>
        <p:nvSpPr>
          <p:cNvPr id="8" name="TextBox 7">
            <a:extLst>
              <a:ext uri="{FF2B5EF4-FFF2-40B4-BE49-F238E27FC236}">
                <a16:creationId xmlns:a16="http://schemas.microsoft.com/office/drawing/2014/main" id="{4E8C296B-D3B3-1067-C837-983A6ACB63D1}"/>
              </a:ext>
            </a:extLst>
          </p:cNvPr>
          <p:cNvSpPr txBox="1"/>
          <p:nvPr/>
        </p:nvSpPr>
        <p:spPr>
          <a:xfrm>
            <a:off x="1435510" y="1705709"/>
            <a:ext cx="6096000" cy="1015663"/>
          </a:xfrm>
          <a:prstGeom prst="rect">
            <a:avLst/>
          </a:prstGeom>
          <a:noFill/>
        </p:spPr>
        <p:txBody>
          <a:bodyPr wrap="square">
            <a:spAutoFit/>
          </a:bodyPr>
          <a:lstStyle/>
          <a:p>
            <a:pPr rtl="0">
              <a:buNone/>
            </a:pPr>
            <a:r>
              <a:rPr lang="en-IN" sz="2000" b="0" i="0" u="sng" dirty="0">
                <a:solidFill>
                  <a:srgbClr val="000000"/>
                </a:solidFill>
                <a:effectLst/>
                <a:latin typeface="Arial" panose="020B0604020202020204" pitchFamily="34" charset="0"/>
                <a:cs typeface="Arial" panose="020B0604020202020204" pitchFamily="34" charset="0"/>
              </a:rPr>
              <a:t>Before Prompt</a:t>
            </a:r>
            <a:endParaRPr lang="en-IN" sz="2000" b="0" dirty="0">
              <a:effectLst/>
              <a:latin typeface="Arial" panose="020B0604020202020204" pitchFamily="34" charset="0"/>
              <a:cs typeface="Arial" panose="020B0604020202020204" pitchFamily="34" charset="0"/>
            </a:endParaRPr>
          </a:p>
          <a:p>
            <a:pPr>
              <a:buNone/>
            </a:pP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F4EC469-A569-79C9-541F-7CB581D382ED}"/>
              </a:ext>
            </a:extLst>
          </p:cNvPr>
          <p:cNvSpPr txBox="1"/>
          <p:nvPr/>
        </p:nvSpPr>
        <p:spPr>
          <a:xfrm>
            <a:off x="7305367" y="1767265"/>
            <a:ext cx="6096000" cy="1015663"/>
          </a:xfrm>
          <a:prstGeom prst="rect">
            <a:avLst/>
          </a:prstGeom>
          <a:noFill/>
        </p:spPr>
        <p:txBody>
          <a:bodyPr wrap="square">
            <a:spAutoFit/>
          </a:bodyPr>
          <a:lstStyle/>
          <a:p>
            <a:pPr rtl="0">
              <a:buNone/>
            </a:pPr>
            <a:r>
              <a:rPr lang="en-IN" sz="2000" b="0" i="0" u="sng" dirty="0">
                <a:solidFill>
                  <a:srgbClr val="000000"/>
                </a:solidFill>
                <a:effectLst/>
                <a:latin typeface="Arial" panose="020B0604020202020204" pitchFamily="34" charset="0"/>
                <a:cs typeface="Arial" panose="020B0604020202020204" pitchFamily="34" charset="0"/>
              </a:rPr>
              <a:t>After the Prompt</a:t>
            </a:r>
            <a:endParaRPr lang="en-IN" sz="2000" b="0" dirty="0">
              <a:effectLst/>
              <a:latin typeface="Arial" panose="020B0604020202020204" pitchFamily="34" charset="0"/>
              <a:cs typeface="Arial" panose="020B0604020202020204" pitchFamily="34" charset="0"/>
            </a:endParaRPr>
          </a:p>
          <a:p>
            <a:pPr>
              <a:buNone/>
            </a:pP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5316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18C58-EFFB-5128-56A1-10E07DA7BF1C}"/>
              </a:ext>
            </a:extLst>
          </p:cNvPr>
          <p:cNvSpPr txBox="1"/>
          <p:nvPr/>
        </p:nvSpPr>
        <p:spPr>
          <a:xfrm>
            <a:off x="432620" y="347575"/>
            <a:ext cx="6096000" cy="1384995"/>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rPr>
              <a:t>Novelty and Uniqueness</a:t>
            </a:r>
            <a:endParaRPr lang="en-IN" sz="2800" b="0" dirty="0">
              <a:effectLst/>
            </a:endParaRPr>
          </a:p>
          <a:p>
            <a:pPr>
              <a:buNone/>
            </a:pPr>
            <a:br>
              <a:rPr lang="en-IN" sz="2800" dirty="0"/>
            </a:br>
            <a:endParaRPr lang="en-IN" sz="2800" dirty="0"/>
          </a:p>
        </p:txBody>
      </p:sp>
      <p:sp>
        <p:nvSpPr>
          <p:cNvPr id="5" name="TextBox 4">
            <a:extLst>
              <a:ext uri="{FF2B5EF4-FFF2-40B4-BE49-F238E27FC236}">
                <a16:creationId xmlns:a16="http://schemas.microsoft.com/office/drawing/2014/main" id="{A6AA97D3-86C3-5172-AF20-25CC194237F0}"/>
              </a:ext>
            </a:extLst>
          </p:cNvPr>
          <p:cNvSpPr txBox="1"/>
          <p:nvPr/>
        </p:nvSpPr>
        <p:spPr>
          <a:xfrm>
            <a:off x="432620" y="917912"/>
            <a:ext cx="10835148" cy="5940088"/>
          </a:xfrm>
          <a:prstGeom prst="rect">
            <a:avLst/>
          </a:prstGeom>
          <a:noFill/>
        </p:spPr>
        <p:txBody>
          <a:bodyPr wrap="square">
            <a:spAutoFit/>
          </a:bodyPr>
          <a:lstStyle/>
          <a:p>
            <a:pPr>
              <a:buNone/>
            </a:pPr>
            <a:r>
              <a:rPr lang="en-IN" sz="2000" dirty="0">
                <a:latin typeface="Arial" panose="020B0604020202020204" pitchFamily="34" charset="0"/>
                <a:cs typeface="Arial" panose="020B0604020202020204" pitchFamily="34" charset="0"/>
              </a:rPr>
              <a:t>The proposed </a:t>
            </a:r>
            <a:r>
              <a:rPr lang="en-IN" sz="2000" b="1" dirty="0">
                <a:latin typeface="Arial" panose="020B0604020202020204" pitchFamily="34" charset="0"/>
                <a:cs typeface="Arial" panose="020B0604020202020204" pitchFamily="34" charset="0"/>
              </a:rPr>
              <a:t>AI-Powered Nutrition Agent</a:t>
            </a:r>
            <a:r>
              <a:rPr lang="en-IN" sz="2000" dirty="0">
                <a:latin typeface="Arial" panose="020B0604020202020204" pitchFamily="34" charset="0"/>
                <a:cs typeface="Arial" panose="020B0604020202020204" pitchFamily="34" charset="0"/>
              </a:rPr>
              <a:t> combines </a:t>
            </a:r>
            <a:r>
              <a:rPr lang="en-IN" sz="2000" b="1" dirty="0">
                <a:latin typeface="Arial" panose="020B0604020202020204" pitchFamily="34" charset="0"/>
                <a:cs typeface="Arial" panose="020B0604020202020204" pitchFamily="34" charset="0"/>
              </a:rPr>
              <a:t>IBM watsonx.ai Granite Models</a:t>
            </a:r>
            <a:r>
              <a:rPr lang="en-IN" sz="2000" dirty="0">
                <a:latin typeface="Arial" panose="020B0604020202020204" pitchFamily="34" charset="0"/>
                <a:cs typeface="Arial" panose="020B0604020202020204" pitchFamily="34" charset="0"/>
              </a:rPr>
              <a:t> with a user-friendly web application to deliver personalized nutrition guidance and health insights.</a:t>
            </a:r>
          </a:p>
          <a:p>
            <a:pPr>
              <a:buNone/>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AI-Powered Nutrition Assistant</a:t>
            </a:r>
            <a:r>
              <a:rPr lang="en-IN" sz="2000" dirty="0">
                <a:latin typeface="Arial" panose="020B0604020202020204" pitchFamily="34" charset="0"/>
                <a:cs typeface="Arial" panose="020B0604020202020204" pitchFamily="34" charset="0"/>
              </a:rPr>
              <a:t> – Provides intelligent and context-aware dietary recommendations using IBM Granite models. </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Personalized Meal Planning</a:t>
            </a:r>
            <a:r>
              <a:rPr lang="en-IN" sz="2000" dirty="0">
                <a:latin typeface="Arial" panose="020B0604020202020204" pitchFamily="34" charset="0"/>
                <a:cs typeface="Arial" panose="020B0604020202020204" pitchFamily="34" charset="0"/>
              </a:rPr>
              <a:t> – Generates customized meal plans based on user preferences, BMI, and health goals. </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Interactive Health Dashboard</a:t>
            </a:r>
            <a:r>
              <a:rPr lang="en-IN" sz="2000" dirty="0">
                <a:latin typeface="Arial" panose="020B0604020202020204" pitchFamily="34" charset="0"/>
                <a:cs typeface="Arial" panose="020B0604020202020204" pitchFamily="34" charset="0"/>
              </a:rPr>
              <a:t> – Visualizes BMI, calorie information, and nutrition insights for better health monitoring.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Family Profile Support</a:t>
            </a:r>
            <a:r>
              <a:rPr lang="en-IN" sz="2000" dirty="0">
                <a:latin typeface="Arial" panose="020B0604020202020204" pitchFamily="34" charset="0"/>
                <a:cs typeface="Arial" panose="020B0604020202020204" pitchFamily="34" charset="0"/>
              </a:rPr>
              <a:t> – Enables personalized nutrition recommendations for multiple family members.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Real-Time AI Assistance</a:t>
            </a:r>
            <a:r>
              <a:rPr lang="en-IN" sz="2000" dirty="0">
                <a:latin typeface="Arial" panose="020B0604020202020204" pitchFamily="34" charset="0"/>
                <a:cs typeface="Arial" panose="020B0604020202020204" pitchFamily="34" charset="0"/>
              </a:rPr>
              <a:t> – Instantly answers nutrition-related queries and provides actionable health suggestions. </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Cloud-Based Deployment</a:t>
            </a:r>
            <a:r>
              <a:rPr lang="en-IN" sz="2000" dirty="0">
                <a:latin typeface="Arial" panose="020B0604020202020204" pitchFamily="34" charset="0"/>
                <a:cs typeface="Arial" panose="020B0604020202020204" pitchFamily="34" charset="0"/>
              </a:rPr>
              <a:t> – Built with Python Flask and deployed on Render for easy accessibility. </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a:buNone/>
            </a:pPr>
            <a:r>
              <a:rPr lang="en-IN" sz="2000" dirty="0">
                <a:latin typeface="Arial" panose="020B0604020202020204" pitchFamily="34" charset="0"/>
                <a:cs typeface="Arial" panose="020B0604020202020204" pitchFamily="34" charset="0"/>
              </a:rPr>
              <a:t>Overall, the solution acts as an intelligent digital nutrition assistant that helps users make healthier food choices through personalized AI-driven recommendations and an interactive user experience.</a:t>
            </a:r>
          </a:p>
        </p:txBody>
      </p:sp>
    </p:spTree>
    <p:extLst>
      <p:ext uri="{BB962C8B-B14F-4D97-AF65-F5344CB8AC3E}">
        <p14:creationId xmlns:p14="http://schemas.microsoft.com/office/powerpoint/2010/main" val="2867390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24A7FB-500C-C52D-AB09-5262109432BF}"/>
              </a:ext>
            </a:extLst>
          </p:cNvPr>
          <p:cNvSpPr txBox="1"/>
          <p:nvPr/>
        </p:nvSpPr>
        <p:spPr>
          <a:xfrm>
            <a:off x="894736" y="1029447"/>
            <a:ext cx="6096000" cy="1015663"/>
          </a:xfrm>
          <a:prstGeom prst="rect">
            <a:avLst/>
          </a:prstGeom>
          <a:noFill/>
        </p:spPr>
        <p:txBody>
          <a:bodyPr wrap="square">
            <a:spAutoFit/>
          </a:bodyPr>
          <a:lstStyle/>
          <a:p>
            <a:pPr rtl="0">
              <a:buNone/>
            </a:pPr>
            <a:r>
              <a:rPr lang="en-IN" sz="2400" b="1" i="0" u="none" strike="noStrike" dirty="0">
                <a:solidFill>
                  <a:srgbClr val="000000"/>
                </a:solidFill>
                <a:effectLst/>
                <a:latin typeface="Arial" panose="020B0604020202020204" pitchFamily="34" charset="0"/>
              </a:rPr>
              <a:t>Git Hub Link:</a:t>
            </a:r>
            <a:endParaRPr lang="en-IN" b="0" dirty="0">
              <a:effectLst/>
            </a:endParaRPr>
          </a:p>
          <a:p>
            <a:pPr>
              <a:buNone/>
            </a:pPr>
            <a:br>
              <a:rPr lang="en-IN" dirty="0"/>
            </a:br>
            <a:endParaRPr lang="en-IN" dirty="0"/>
          </a:p>
        </p:txBody>
      </p:sp>
      <p:sp>
        <p:nvSpPr>
          <p:cNvPr id="4" name="TextBox 3">
            <a:extLst>
              <a:ext uri="{FF2B5EF4-FFF2-40B4-BE49-F238E27FC236}">
                <a16:creationId xmlns:a16="http://schemas.microsoft.com/office/drawing/2014/main" id="{52D6934E-DF1E-C813-1F86-5E00A3072B6D}"/>
              </a:ext>
            </a:extLst>
          </p:cNvPr>
          <p:cNvSpPr txBox="1"/>
          <p:nvPr/>
        </p:nvSpPr>
        <p:spPr>
          <a:xfrm>
            <a:off x="894736" y="2074607"/>
            <a:ext cx="6096000" cy="707886"/>
          </a:xfrm>
          <a:prstGeom prst="rect">
            <a:avLst/>
          </a:prstGeom>
          <a:noFill/>
        </p:spPr>
        <p:txBody>
          <a:bodyPr wrap="square">
            <a:spAutoFit/>
          </a:bodyPr>
          <a:lstStyle/>
          <a:p>
            <a:r>
              <a:rPr lang="en-IN" sz="2000" dirty="0">
                <a:hlinkClick r:id="rId2"/>
              </a:rPr>
              <a:t>https://</a:t>
            </a:r>
            <a:r>
              <a:rPr lang="en-IN" sz="2000" dirty="0">
                <a:latin typeface="Arial" panose="020B0604020202020204" pitchFamily="34" charset="0"/>
                <a:cs typeface="Arial" panose="020B0604020202020204" pitchFamily="34" charset="0"/>
                <a:hlinkClick r:id="rId2"/>
              </a:rPr>
              <a:t>github</a:t>
            </a:r>
            <a:r>
              <a:rPr lang="en-IN" sz="2000" dirty="0">
                <a:hlinkClick r:id="rId2"/>
              </a:rPr>
              <a:t>.com/Araveetimahendra/Nutrition-Agent-AICTE.git</a:t>
            </a:r>
            <a:endParaRPr lang="en-IN" sz="2000" dirty="0"/>
          </a:p>
        </p:txBody>
      </p:sp>
    </p:spTree>
    <p:extLst>
      <p:ext uri="{BB962C8B-B14F-4D97-AF65-F5344CB8AC3E}">
        <p14:creationId xmlns:p14="http://schemas.microsoft.com/office/powerpoint/2010/main" val="198483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746883-E677-7890-4698-89EB745B00FB}"/>
              </a:ext>
            </a:extLst>
          </p:cNvPr>
          <p:cNvSpPr txBox="1"/>
          <p:nvPr/>
        </p:nvSpPr>
        <p:spPr>
          <a:xfrm>
            <a:off x="521110" y="416402"/>
            <a:ext cx="6096000" cy="1077218"/>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rPr>
              <a:t>Future Scope </a:t>
            </a:r>
            <a:endParaRPr lang="en-IN" sz="2800" b="0" dirty="0">
              <a:effectLst/>
            </a:endParaRPr>
          </a:p>
          <a:p>
            <a:pPr>
              <a:buNone/>
            </a:pPr>
            <a:br>
              <a:rPr lang="en-IN" dirty="0"/>
            </a:br>
            <a:endParaRPr lang="en-IN" dirty="0"/>
          </a:p>
        </p:txBody>
      </p:sp>
      <p:sp>
        <p:nvSpPr>
          <p:cNvPr id="7" name="TextBox 6">
            <a:extLst>
              <a:ext uri="{FF2B5EF4-FFF2-40B4-BE49-F238E27FC236}">
                <a16:creationId xmlns:a16="http://schemas.microsoft.com/office/drawing/2014/main" id="{D84F7CD9-048D-739F-CD08-47D18A862170}"/>
              </a:ext>
            </a:extLst>
          </p:cNvPr>
          <p:cNvSpPr txBox="1"/>
          <p:nvPr/>
        </p:nvSpPr>
        <p:spPr>
          <a:xfrm>
            <a:off x="521109" y="955011"/>
            <a:ext cx="11031793" cy="4401205"/>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1. Wearable Device Integration</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Integrate the Nutrition Agent with smartwatches and fitness trackers to collect real-time health data such as heart rate, daily steps, calories burned, and sleep patterns. This will enable more accurate and personalized nutrition recommendations.</a:t>
            </a:r>
          </a:p>
          <a:p>
            <a:pPr>
              <a:buNone/>
            </a:pPr>
            <a:r>
              <a:rPr lang="en-IN" sz="2000" b="1" dirty="0">
                <a:latin typeface="Arial" panose="020B0604020202020204" pitchFamily="34" charset="0"/>
                <a:cs typeface="Arial" panose="020B0604020202020204" pitchFamily="34" charset="0"/>
              </a:rPr>
              <a:t>2. Voice Assistant &amp; Multilingual Support</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Enhance the application with AI-powered voice interaction and support for multiple regional languages, making the Nutrition Agent more accessible, user-friendly, and inclusive for a wider range of users.</a:t>
            </a:r>
          </a:p>
          <a:p>
            <a:pPr>
              <a:buNone/>
            </a:pPr>
            <a:r>
              <a:rPr lang="en-IN" sz="2000" b="1" dirty="0">
                <a:latin typeface="Arial" panose="020B0604020202020204" pitchFamily="34" charset="0"/>
                <a:cs typeface="Arial" panose="020B0604020202020204" pitchFamily="34" charset="0"/>
              </a:rPr>
              <a:t>3. Image-Based Food Recognition</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Enable users to upload food images for automatic identification of food items and nutritional analysis using AI-powered image recognition.</a:t>
            </a:r>
          </a:p>
          <a:p>
            <a:pPr>
              <a:buNone/>
            </a:pPr>
            <a:r>
              <a:rPr lang="en-IN" sz="2000" b="1" dirty="0">
                <a:latin typeface="Arial" panose="020B0604020202020204" pitchFamily="34" charset="0"/>
                <a:cs typeface="Arial" panose="020B0604020202020204" pitchFamily="34" charset="0"/>
              </a:rPr>
              <a:t>4. Advanced Health Monitoring</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Provide personalized nutrition plans for managing chronic conditions such as diabetes, obesity, and heart disease by incorporating user health history and lifestyle data.</a:t>
            </a:r>
          </a:p>
        </p:txBody>
      </p:sp>
    </p:spTree>
    <p:extLst>
      <p:ext uri="{BB962C8B-B14F-4D97-AF65-F5344CB8AC3E}">
        <p14:creationId xmlns:p14="http://schemas.microsoft.com/office/powerpoint/2010/main" val="2658473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5C480E-B219-5BF5-1AA0-FD0F2DA64009}"/>
              </a:ext>
            </a:extLst>
          </p:cNvPr>
          <p:cNvSpPr txBox="1"/>
          <p:nvPr/>
        </p:nvSpPr>
        <p:spPr>
          <a:xfrm>
            <a:off x="481781" y="437762"/>
            <a:ext cx="6096000" cy="523220"/>
          </a:xfrm>
          <a:prstGeom prst="rect">
            <a:avLst/>
          </a:prstGeom>
          <a:noFill/>
        </p:spPr>
        <p:txBody>
          <a:bodyPr wrap="square">
            <a:spAutoFit/>
          </a:bodyPr>
          <a:lstStyle/>
          <a:p>
            <a:r>
              <a:rPr lang="en-IN" sz="2800" b="1" i="0" u="none" strike="noStrike" dirty="0">
                <a:solidFill>
                  <a:srgbClr val="000000"/>
                </a:solidFill>
                <a:effectLst/>
                <a:latin typeface="Arial" panose="020B0604020202020204" pitchFamily="34" charset="0"/>
              </a:rPr>
              <a:t>Certificates Earned:</a:t>
            </a:r>
            <a:endParaRPr lang="en-IN" sz="2800" dirty="0"/>
          </a:p>
        </p:txBody>
      </p:sp>
      <p:pic>
        <p:nvPicPr>
          <p:cNvPr id="5" name="Picture 4">
            <a:extLst>
              <a:ext uri="{FF2B5EF4-FFF2-40B4-BE49-F238E27FC236}">
                <a16:creationId xmlns:a16="http://schemas.microsoft.com/office/drawing/2014/main" id="{59561B28-63B6-4A64-5BA7-519277EBA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4942" y="1225681"/>
            <a:ext cx="7288884" cy="5632319"/>
          </a:xfrm>
          <a:prstGeom prst="rect">
            <a:avLst/>
          </a:prstGeom>
        </p:spPr>
      </p:pic>
    </p:spTree>
    <p:extLst>
      <p:ext uri="{BB962C8B-B14F-4D97-AF65-F5344CB8AC3E}">
        <p14:creationId xmlns:p14="http://schemas.microsoft.com/office/powerpoint/2010/main" val="1811597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CC15B9-0794-301B-65F0-B0DB80D8D37A}"/>
              </a:ext>
            </a:extLst>
          </p:cNvPr>
          <p:cNvSpPr txBox="1"/>
          <p:nvPr/>
        </p:nvSpPr>
        <p:spPr>
          <a:xfrm>
            <a:off x="442452" y="347576"/>
            <a:ext cx="6096000" cy="1384995"/>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cs typeface="Arial" panose="020B0604020202020204" pitchFamily="34" charset="0"/>
              </a:rPr>
              <a:t>Certificates Earned:</a:t>
            </a:r>
            <a:r>
              <a:rPr lang="en-IN" sz="2800" b="0" i="0" u="none" strike="noStrike" dirty="0">
                <a:solidFill>
                  <a:srgbClr val="000000"/>
                </a:solidFill>
                <a:effectLst/>
                <a:latin typeface="Arial" panose="020B0604020202020204" pitchFamily="34" charset="0"/>
                <a:cs typeface="Arial" panose="020B0604020202020204" pitchFamily="34" charset="0"/>
              </a:rPr>
              <a:t>​</a:t>
            </a:r>
            <a:endParaRPr lang="en-IN" sz="2800" b="0" dirty="0">
              <a:effectLst/>
              <a:latin typeface="Arial" panose="020B0604020202020204" pitchFamily="34" charset="0"/>
              <a:cs typeface="Arial" panose="020B0604020202020204" pitchFamily="34" charset="0"/>
            </a:endParaRPr>
          </a:p>
          <a:p>
            <a:pPr>
              <a:buNone/>
            </a:pPr>
            <a:br>
              <a:rPr lang="en-IN" sz="2800" b="0" dirty="0">
                <a:effectLst/>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EBDC052-3082-734B-CDAC-F31C9521F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5781" y="1318965"/>
            <a:ext cx="8072284" cy="5566482"/>
          </a:xfrm>
          <a:prstGeom prst="rect">
            <a:avLst/>
          </a:prstGeom>
        </p:spPr>
      </p:pic>
    </p:spTree>
    <p:extLst>
      <p:ext uri="{BB962C8B-B14F-4D97-AF65-F5344CB8AC3E}">
        <p14:creationId xmlns:p14="http://schemas.microsoft.com/office/powerpoint/2010/main" val="3273102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E624A5-D829-3A38-4282-C91ECD52880C}"/>
              </a:ext>
            </a:extLst>
          </p:cNvPr>
          <p:cNvPicPr>
            <a:picLocks noChangeAspect="1"/>
          </p:cNvPicPr>
          <p:nvPr/>
        </p:nvPicPr>
        <p:blipFill>
          <a:blip r:embed="rId2"/>
          <a:stretch>
            <a:fillRect/>
          </a:stretch>
        </p:blipFill>
        <p:spPr>
          <a:xfrm>
            <a:off x="1524000" y="2502770"/>
            <a:ext cx="9144000" cy="1857375"/>
          </a:xfrm>
          <a:prstGeom prst="rect">
            <a:avLst/>
          </a:prstGeom>
        </p:spPr>
      </p:pic>
    </p:spTree>
    <p:extLst>
      <p:ext uri="{BB962C8B-B14F-4D97-AF65-F5344CB8AC3E}">
        <p14:creationId xmlns:p14="http://schemas.microsoft.com/office/powerpoint/2010/main" val="430796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871</Words>
  <Application>Microsoft Office PowerPoint</Application>
  <PresentationFormat>Widescreen</PresentationFormat>
  <Paragraphs>91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mahendra araveeti</dc:creator>
  <cp:lastModifiedBy>mahendra araveeti</cp:lastModifiedBy>
  <cp:revision>1</cp:revision>
  <dcterms:created xsi:type="dcterms:W3CDTF">2026-07-14T16:21:11Z</dcterms:created>
  <dcterms:modified xsi:type="dcterms:W3CDTF">2026-07-15T14:00:15Z</dcterms:modified>
</cp:coreProperties>
</file>